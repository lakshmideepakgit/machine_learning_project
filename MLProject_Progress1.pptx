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F4EBBA-9C98-42EF-AA51-B28A183574E6}" v="10" dt="2026-03-02T02:31:20.1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8" d="100"/>
          <a:sy n="58" d="100"/>
        </p:scale>
        <p:origin x="988" y="3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deepak Chidagam" userId="afee8e9b94499c7d" providerId="LiveId" clId="{399FADC4-3562-4B58-84D9-A8D2D6FA8032}"/>
    <pc:docChg chg="undo custSel addSld modSld">
      <pc:chgData name="Lakshmi deepak Chidagam" userId="afee8e9b94499c7d" providerId="LiveId" clId="{399FADC4-3562-4B58-84D9-A8D2D6FA8032}" dt="2026-03-02T02:31:55.298" v="66" actId="20577"/>
      <pc:docMkLst>
        <pc:docMk/>
      </pc:docMkLst>
      <pc:sldChg chg="modSp new mod">
        <pc:chgData name="Lakshmi deepak Chidagam" userId="afee8e9b94499c7d" providerId="LiveId" clId="{399FADC4-3562-4B58-84D9-A8D2D6FA8032}" dt="2026-03-02T02:31:55.298" v="66" actId="20577"/>
        <pc:sldMkLst>
          <pc:docMk/>
          <pc:sldMk cId="1290488759" sldId="264"/>
        </pc:sldMkLst>
        <pc:spChg chg="mod">
          <ac:chgData name="Lakshmi deepak Chidagam" userId="afee8e9b94499c7d" providerId="LiveId" clId="{399FADC4-3562-4B58-84D9-A8D2D6FA8032}" dt="2026-03-02T02:28:31.228" v="7" actId="14100"/>
          <ac:spMkLst>
            <pc:docMk/>
            <pc:sldMk cId="1290488759" sldId="264"/>
            <ac:spMk id="2" creationId="{F7ADAAE3-A776-F0DA-FE9B-CF3458F3D64F}"/>
          </ac:spMkLst>
        </pc:spChg>
        <pc:spChg chg="mod">
          <ac:chgData name="Lakshmi deepak Chidagam" userId="afee8e9b94499c7d" providerId="LiveId" clId="{399FADC4-3562-4B58-84D9-A8D2D6FA8032}" dt="2026-03-02T02:31:55.298" v="66" actId="20577"/>
          <ac:spMkLst>
            <pc:docMk/>
            <pc:sldMk cId="1290488759" sldId="264"/>
            <ac:spMk id="3" creationId="{D5079A7B-283A-CD2F-6116-C64DB48794C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2FE-E00B-4FAF-8F73-F722060EBA12}"/>
              </a:ext>
            </a:extLst>
          </p:cNvPr>
          <p:cNvSpPr>
            <a:spLocks noGrp="1"/>
          </p:cNvSpPr>
          <p:nvPr>
            <p:ph type="ctrTitle"/>
          </p:nvPr>
        </p:nvSpPr>
        <p:spPr>
          <a:xfrm>
            <a:off x="482600" y="978408"/>
            <a:ext cx="10506991" cy="2531555"/>
          </a:xfrm>
          <a:prstGeom prst="rect">
            <a:avLst/>
          </a:prstGeom>
        </p:spPr>
        <p:txBody>
          <a:bodyPr anchor="b"/>
          <a:lstStyle>
            <a:lvl1pPr algn="l">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7C1CCE2-4461-473E-B23C-34C8CCF04B3A}"/>
              </a:ext>
            </a:extLst>
          </p:cNvPr>
          <p:cNvSpPr>
            <a:spLocks noGrp="1"/>
          </p:cNvSpPr>
          <p:nvPr>
            <p:ph type="subTitle" idx="1"/>
          </p:nvPr>
        </p:nvSpPr>
        <p:spPr>
          <a:xfrm>
            <a:off x="482600" y="3602038"/>
            <a:ext cx="10506991" cy="227755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AA551A-CE2F-4E35-A714-B1F04D4B4E8E}"/>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5" name="Footer Placeholder 4">
            <a:extLst>
              <a:ext uri="{FF2B5EF4-FFF2-40B4-BE49-F238E27FC236}">
                <a16:creationId xmlns:a16="http://schemas.microsoft.com/office/drawing/2014/main" id="{26B5C907-6594-4DFF-A32B-449C3BA96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76D75-E9DA-4660-AC52-51BA63FCB94D}"/>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0" name="Straight Connector 9">
            <a:extLst>
              <a:ext uri="{FF2B5EF4-FFF2-40B4-BE49-F238E27FC236}">
                <a16:creationId xmlns:a16="http://schemas.microsoft.com/office/drawing/2014/main" id="{A2EFA84C-D756-4DC7-AA46-68D776F37FA4}"/>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93184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3735-A77F-440D-9448-6AE7C204D377}"/>
              </a:ext>
            </a:extLst>
          </p:cNvPr>
          <p:cNvSpPr>
            <a:spLocks noGrp="1"/>
          </p:cNvSpPr>
          <p:nvPr>
            <p:ph type="title"/>
          </p:nvPr>
        </p:nvSpPr>
        <p:spPr>
          <a:xfrm>
            <a:off x="482600" y="978408"/>
            <a:ext cx="10634472" cy="2157984"/>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276C6EE-D55E-454B-B28C-EC73D1DB4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2A2905-6D2E-4319-9521-61452AB8F996}"/>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5" name="Footer Placeholder 4">
            <a:extLst>
              <a:ext uri="{FF2B5EF4-FFF2-40B4-BE49-F238E27FC236}">
                <a16:creationId xmlns:a16="http://schemas.microsoft.com/office/drawing/2014/main" id="{6DAC7550-84E8-49D3-B419-6F5F327DAD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D2C6B-EA5D-4D97-BC84-6C860D53636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2836615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1B299E6-11CC-4181-86C3-528A13F1F556}"/>
              </a:ext>
              <a:ext uri="{C183D7F6-B498-43B3-948B-1728B52AA6E4}">
                <adec:decorative xmlns:adec="http://schemas.microsoft.com/office/drawing/2017/decorative" val="1"/>
              </a:ext>
            </a:extLst>
          </p:cNvPr>
          <p:cNvSpPr/>
          <p:nvPr/>
        </p:nvSpPr>
        <p:spPr>
          <a:xfrm>
            <a:off x="481007" y="3922232"/>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803473-0A64-4F9F-833B-8D64E39019B1}"/>
              </a:ext>
            </a:extLst>
          </p:cNvPr>
          <p:cNvSpPr>
            <a:spLocks noGrp="1"/>
          </p:cNvSpPr>
          <p:nvPr>
            <p:ph type="title"/>
          </p:nvPr>
        </p:nvSpPr>
        <p:spPr>
          <a:xfrm>
            <a:off x="482600" y="978409"/>
            <a:ext cx="10515600" cy="2716769"/>
          </a:xfrm>
          <a:prstGeom prst="rect">
            <a:avLst/>
          </a:prstGeo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6873736-B424-40F2-B562-6DC10E5EDE4F}"/>
              </a:ext>
            </a:extLst>
          </p:cNvPr>
          <p:cNvSpPr>
            <a:spLocks noGrp="1"/>
          </p:cNvSpPr>
          <p:nvPr>
            <p:ph type="body" idx="1"/>
          </p:nvPr>
        </p:nvSpPr>
        <p:spPr>
          <a:xfrm>
            <a:off x="482600" y="4171445"/>
            <a:ext cx="10515600" cy="1918205"/>
          </a:xfrm>
        </p:spPr>
        <p:txBody>
          <a:bodyPr>
            <a:normAutofit/>
          </a:bodyPr>
          <a:lstStyle>
            <a:lvl1pPr marL="0" indent="0">
              <a:buNone/>
              <a:defRPr lang="en-US" sz="2400" i="1" kern="1200" dirty="0" smtClean="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Date Placeholder 3">
            <a:extLst>
              <a:ext uri="{FF2B5EF4-FFF2-40B4-BE49-F238E27FC236}">
                <a16:creationId xmlns:a16="http://schemas.microsoft.com/office/drawing/2014/main" id="{74348851-37C0-478D-B722-D76C817DC49D}"/>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5" name="Footer Placeholder 4">
            <a:extLst>
              <a:ext uri="{FF2B5EF4-FFF2-40B4-BE49-F238E27FC236}">
                <a16:creationId xmlns:a16="http://schemas.microsoft.com/office/drawing/2014/main" id="{263E063E-66CE-4C18-91FA-D14AE052D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66D3D-FD62-470C-BC3C-A03771A32F60}"/>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1" name="Straight Connector 10">
            <a:extLst>
              <a:ext uri="{FF2B5EF4-FFF2-40B4-BE49-F238E27FC236}">
                <a16:creationId xmlns:a16="http://schemas.microsoft.com/office/drawing/2014/main" id="{DDFF0049-0231-4557-A707-569556F0CA83}"/>
              </a:ext>
              <a:ext uri="{C183D7F6-B498-43B3-948B-1728B52AA6E4}">
                <adec:decorative xmlns:adec="http://schemas.microsoft.com/office/drawing/2017/decorative" val="1"/>
              </a:ext>
            </a:extLst>
          </p:cNvPr>
          <p:cNvCxnSpPr>
            <a:cxnSpLocks/>
          </p:cNvCxnSpPr>
          <p:nvPr/>
        </p:nvCxnSpPr>
        <p:spPr>
          <a:xfrm>
            <a:off x="481007" y="3922232"/>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457A0DB1-87C8-4BF4-B2A2-F9CA6ED05AC4}"/>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6C29209-8A8F-48A7-8BA2-AFADA37CBD4F}"/>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9652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66BE9C-AE7C-4C39-9694-C32D6939B965}"/>
              </a:ext>
              <a:ext uri="{C183D7F6-B498-43B3-948B-1728B52AA6E4}">
                <adec:decorative xmlns:adec="http://schemas.microsoft.com/office/drawing/2017/decorative" val="1"/>
              </a:ext>
            </a:extLst>
          </p:cNvPr>
          <p:cNvSpPr/>
          <p:nvPr/>
        </p:nvSpPr>
        <p:spPr>
          <a:xfrm>
            <a:off x="481007" y="483577"/>
            <a:ext cx="11147071" cy="2434824"/>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CC42C-303A-4BDF-990A-2B07967BC9A9}"/>
              </a:ext>
            </a:extLst>
          </p:cNvPr>
          <p:cNvSpPr>
            <a:spLocks noGrp="1"/>
          </p:cNvSpPr>
          <p:nvPr>
            <p:ph type="title"/>
          </p:nvPr>
        </p:nvSpPr>
        <p:spPr>
          <a:xfrm>
            <a:off x="482599" y="978408"/>
            <a:ext cx="11147071" cy="1755263"/>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0C55CEF-353E-4E14-83AD-ACADDC08D943}"/>
              </a:ext>
            </a:extLst>
          </p:cNvPr>
          <p:cNvSpPr>
            <a:spLocks noGrp="1"/>
          </p:cNvSpPr>
          <p:nvPr>
            <p:ph sz="half" idx="1"/>
          </p:nvPr>
        </p:nvSpPr>
        <p:spPr>
          <a:xfrm>
            <a:off x="48260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E55ECEF-9654-4AC1-BF77-7BC602BBD434}"/>
              </a:ext>
            </a:extLst>
          </p:cNvPr>
          <p:cNvSpPr>
            <a:spLocks noGrp="1"/>
          </p:cNvSpPr>
          <p:nvPr>
            <p:ph sz="half" idx="2"/>
          </p:nvPr>
        </p:nvSpPr>
        <p:spPr>
          <a:xfrm>
            <a:off x="621112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4922FC8-BC06-407B-A82B-DA62B33A1CD4}"/>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6" name="Footer Placeholder 5">
            <a:extLst>
              <a:ext uri="{FF2B5EF4-FFF2-40B4-BE49-F238E27FC236}">
                <a16:creationId xmlns:a16="http://schemas.microsoft.com/office/drawing/2014/main" id="{7915B701-4E1F-48AA-8A3C-ED5DD9151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6BCA31-8AC7-46F5-BCAB-41D54DF83D78}"/>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9" name="Straight Connector 8">
            <a:extLst>
              <a:ext uri="{FF2B5EF4-FFF2-40B4-BE49-F238E27FC236}">
                <a16:creationId xmlns:a16="http://schemas.microsoft.com/office/drawing/2014/main" id="{21BA86D8-2A29-4A0E-AEA0-39B41C4187DE}"/>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085E13E-918A-4D04-9E84-94148D7C878E}"/>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39069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5E892-D975-4DD6-8583-A14DDBE85F0C}"/>
              </a:ext>
            </a:extLst>
          </p:cNvPr>
          <p:cNvSpPr>
            <a:spLocks noGrp="1"/>
          </p:cNvSpPr>
          <p:nvPr>
            <p:ph type="title"/>
          </p:nvPr>
        </p:nvSpPr>
        <p:spPr>
          <a:xfrm>
            <a:off x="484631" y="978407"/>
            <a:ext cx="11145039" cy="1339584"/>
          </a:xfrm>
          <a:prstGeom prst="rect">
            <a:avLst/>
          </a:prstGeo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1F7700-CECC-4881-BE5C-A13CD825B73B}"/>
              </a:ext>
            </a:extLst>
          </p:cNvPr>
          <p:cNvSpPr>
            <a:spLocks noGrp="1"/>
          </p:cNvSpPr>
          <p:nvPr>
            <p:ph type="body" idx="1"/>
          </p:nvPr>
        </p:nvSpPr>
        <p:spPr>
          <a:xfrm>
            <a:off x="484632" y="2500921"/>
            <a:ext cx="5346222" cy="823912"/>
          </a:xfrm>
        </p:spPr>
        <p:txBody>
          <a:bodyPr anchor="b">
            <a:normAutofit/>
          </a:bodyPr>
          <a:lstStyle>
            <a:lvl1pPr marL="0" indent="0">
              <a:buNone/>
              <a:defRPr lang="en-US" sz="2400" b="0" i="1" kern="1200"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Content Placeholder 3">
            <a:extLst>
              <a:ext uri="{FF2B5EF4-FFF2-40B4-BE49-F238E27FC236}">
                <a16:creationId xmlns:a16="http://schemas.microsoft.com/office/drawing/2014/main" id="{4CA50766-520A-44C5-943E-569222B74104}"/>
              </a:ext>
            </a:extLst>
          </p:cNvPr>
          <p:cNvSpPr>
            <a:spLocks noGrp="1"/>
          </p:cNvSpPr>
          <p:nvPr>
            <p:ph sz="half" idx="2"/>
          </p:nvPr>
        </p:nvSpPr>
        <p:spPr>
          <a:xfrm>
            <a:off x="484632" y="3428999"/>
            <a:ext cx="5346222"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72F7E42-976A-4239-8006-D68538D4B71F}"/>
              </a:ext>
            </a:extLst>
          </p:cNvPr>
          <p:cNvSpPr>
            <a:spLocks noGrp="1"/>
          </p:cNvSpPr>
          <p:nvPr>
            <p:ph type="body" sz="quarter" idx="3"/>
          </p:nvPr>
        </p:nvSpPr>
        <p:spPr>
          <a:xfrm>
            <a:off x="6257120" y="2500921"/>
            <a:ext cx="5372551" cy="823912"/>
          </a:xfrm>
        </p:spPr>
        <p:txBody>
          <a:bodyPr anchor="b"/>
          <a:lstStyle>
            <a:lvl1pPr marL="0" indent="0">
              <a:buNone/>
              <a:defRPr lang="en-US" sz="2400" b="0" i="1" kern="120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CA329-951F-4391-ADC5-7EA320B7782F}"/>
              </a:ext>
            </a:extLst>
          </p:cNvPr>
          <p:cNvSpPr>
            <a:spLocks noGrp="1"/>
          </p:cNvSpPr>
          <p:nvPr>
            <p:ph sz="quarter" idx="4"/>
          </p:nvPr>
        </p:nvSpPr>
        <p:spPr>
          <a:xfrm>
            <a:off x="6257120" y="3428999"/>
            <a:ext cx="5372551"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BEC22A-DA46-460C-B865-D928C20AE763}"/>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8" name="Footer Placeholder 7">
            <a:extLst>
              <a:ext uri="{FF2B5EF4-FFF2-40B4-BE49-F238E27FC236}">
                <a16:creationId xmlns:a16="http://schemas.microsoft.com/office/drawing/2014/main" id="{4EB2D647-42C5-4AB7-BB71-3A44065716E7}"/>
              </a:ext>
            </a:extLst>
          </p:cNvPr>
          <p:cNvSpPr>
            <a:spLocks noGrp="1"/>
          </p:cNvSpPr>
          <p:nvPr>
            <p:ph type="ftr" sz="quarter" idx="11"/>
          </p:nvPr>
        </p:nvSpPr>
        <p:spPr>
          <a:xfrm>
            <a:off x="484632" y="6419088"/>
            <a:ext cx="4114800" cy="365125"/>
          </a:xfrm>
        </p:spPr>
        <p:txBody>
          <a:bodyPr/>
          <a:lstStyle/>
          <a:p>
            <a:endParaRPr lang="en-US"/>
          </a:p>
        </p:txBody>
      </p:sp>
      <p:sp>
        <p:nvSpPr>
          <p:cNvPr id="9" name="Slide Number Placeholder 8">
            <a:extLst>
              <a:ext uri="{FF2B5EF4-FFF2-40B4-BE49-F238E27FC236}">
                <a16:creationId xmlns:a16="http://schemas.microsoft.com/office/drawing/2014/main" id="{590B2B67-714C-46DA-85E5-598B4244D3B0}"/>
              </a:ext>
            </a:extLst>
          </p:cNvPr>
          <p:cNvSpPr>
            <a:spLocks noGrp="1"/>
          </p:cNvSpPr>
          <p:nvPr>
            <p:ph type="sldNum" sz="quarter" idx="12"/>
          </p:nvPr>
        </p:nvSpPr>
        <p:spPr>
          <a:xfrm>
            <a:off x="10989591" y="-7190"/>
            <a:ext cx="640080" cy="365125"/>
          </a:xfrm>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468160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D4B6724-AB30-4E7C-BE2B-ECD94FF1B463}"/>
              </a:ext>
              <a:ext uri="{C183D7F6-B498-43B3-948B-1728B52AA6E4}">
                <adec:decorative xmlns:adec="http://schemas.microsoft.com/office/drawing/2017/decorative" val="1"/>
              </a:ext>
            </a:extLst>
          </p:cNvPr>
          <p:cNvSpPr/>
          <p:nvPr/>
        </p:nvSpPr>
        <p:spPr>
          <a:xfrm>
            <a:off x="481007" y="3933311"/>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1D4BAB-2678-4A19-A575-C47CAF1446E5}"/>
              </a:ext>
            </a:extLst>
          </p:cNvPr>
          <p:cNvSpPr>
            <a:spLocks noGrp="1"/>
          </p:cNvSpPr>
          <p:nvPr>
            <p:ph type="title"/>
          </p:nvPr>
        </p:nvSpPr>
        <p:spPr>
          <a:xfrm>
            <a:off x="482600" y="978408"/>
            <a:ext cx="10634472" cy="2591509"/>
          </a:xfrm>
          <a:prstGeom prst="rect">
            <a:avLst/>
          </a:prstGeom>
        </p:spPr>
        <p:txBody>
          <a:bodyPr anchor="b"/>
          <a:lstStyle/>
          <a:p>
            <a:r>
              <a:rPr lang="en-US"/>
              <a:t>Click to edit Master title style</a:t>
            </a:r>
            <a:endParaRPr lang="en-US" dirty="0"/>
          </a:p>
        </p:txBody>
      </p:sp>
      <p:sp>
        <p:nvSpPr>
          <p:cNvPr id="3" name="Date Placeholder 2">
            <a:extLst>
              <a:ext uri="{FF2B5EF4-FFF2-40B4-BE49-F238E27FC236}">
                <a16:creationId xmlns:a16="http://schemas.microsoft.com/office/drawing/2014/main" id="{4047C89E-0ABD-4FD2-924C-894345ADFED8}"/>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4" name="Footer Placeholder 3">
            <a:extLst>
              <a:ext uri="{FF2B5EF4-FFF2-40B4-BE49-F238E27FC236}">
                <a16:creationId xmlns:a16="http://schemas.microsoft.com/office/drawing/2014/main" id="{553026CE-9CC8-403B-88B1-184D16532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B3D616-3C18-401B-A792-E75149FDFC47}"/>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7" name="Straight Connector 6">
            <a:extLst>
              <a:ext uri="{FF2B5EF4-FFF2-40B4-BE49-F238E27FC236}">
                <a16:creationId xmlns:a16="http://schemas.microsoft.com/office/drawing/2014/main" id="{04EC6F70-D800-4067-A36A-5BBFC8018E2D}"/>
              </a:ext>
              <a:ext uri="{C183D7F6-B498-43B3-948B-1728B52AA6E4}">
                <adec:decorative xmlns:adec="http://schemas.microsoft.com/office/drawing/2017/decorative" val="1"/>
              </a:ext>
            </a:extLst>
          </p:cNvPr>
          <p:cNvCxnSpPr>
            <a:cxnSpLocks/>
          </p:cNvCxnSpPr>
          <p:nvPr/>
        </p:nvCxnSpPr>
        <p:spPr>
          <a:xfrm>
            <a:off x="482600" y="393331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2B66CB6-8988-4FBA-8524-726765A5F2AA}"/>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28477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C73F84-0C6B-4EF4-9405-C389824999D4}"/>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3" name="Footer Placeholder 2">
            <a:extLst>
              <a:ext uri="{FF2B5EF4-FFF2-40B4-BE49-F238E27FC236}">
                <a16:creationId xmlns:a16="http://schemas.microsoft.com/office/drawing/2014/main" id="{DCCEC807-744E-4C5C-8B15-09AED3E570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FBCB19-9F4B-474C-85C1-4A645A971827}"/>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641042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88B0-DD6B-449B-AE32-D3192081E76F}"/>
              </a:ext>
            </a:extLst>
          </p:cNvPr>
          <p:cNvSpPr>
            <a:spLocks noGrp="1"/>
          </p:cNvSpPr>
          <p:nvPr>
            <p:ph type="title"/>
          </p:nvPr>
        </p:nvSpPr>
        <p:spPr>
          <a:xfrm>
            <a:off x="484632" y="978408"/>
            <a:ext cx="4287393" cy="2450592"/>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F22ED6-5B69-4B3B-BF96-3A75F2107FA6}"/>
              </a:ext>
            </a:extLst>
          </p:cNvPr>
          <p:cNvSpPr>
            <a:spLocks noGrp="1"/>
          </p:cNvSpPr>
          <p:nvPr>
            <p:ph idx="1"/>
          </p:nvPr>
        </p:nvSpPr>
        <p:spPr>
          <a:xfrm>
            <a:off x="5183187" y="987425"/>
            <a:ext cx="644648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7704043-D45F-440A-A15D-2718A913E05A}"/>
              </a:ext>
            </a:extLst>
          </p:cNvPr>
          <p:cNvSpPr>
            <a:spLocks noGrp="1"/>
          </p:cNvSpPr>
          <p:nvPr>
            <p:ph type="body" sz="half" idx="2"/>
          </p:nvPr>
        </p:nvSpPr>
        <p:spPr>
          <a:xfrm>
            <a:off x="484632" y="3645074"/>
            <a:ext cx="4287393" cy="2223914"/>
          </a:xfrm>
        </p:spPr>
        <p:txBody>
          <a:bodyPr/>
          <a:lstStyle>
            <a:lvl1pPr marL="0" indent="0">
              <a:buNone/>
              <a:defRPr lang="en-US" sz="2400" i="1"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072DC-7326-43E7-806C-B690C439E8A8}"/>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6" name="Footer Placeholder 5">
            <a:extLst>
              <a:ext uri="{FF2B5EF4-FFF2-40B4-BE49-F238E27FC236}">
                <a16:creationId xmlns:a16="http://schemas.microsoft.com/office/drawing/2014/main" id="{73F89A0F-B8C6-4AA6-A9C4-4A454F4224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7A616-A4F2-4FC5-88DE-B4E6BA542895}"/>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757979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773D-D007-4687-BA9C-9F229829B5EF}"/>
              </a:ext>
            </a:extLst>
          </p:cNvPr>
          <p:cNvSpPr>
            <a:spLocks noGrp="1"/>
          </p:cNvSpPr>
          <p:nvPr>
            <p:ph type="title"/>
          </p:nvPr>
        </p:nvSpPr>
        <p:spPr>
          <a:xfrm>
            <a:off x="484632" y="978407"/>
            <a:ext cx="4287393" cy="2450593"/>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A3A75FC-78D2-4EF5-884F-11B7BACF799A}"/>
              </a:ext>
            </a:extLst>
          </p:cNvPr>
          <p:cNvSpPr>
            <a:spLocks noGrp="1"/>
          </p:cNvSpPr>
          <p:nvPr>
            <p:ph type="pic" idx="1"/>
          </p:nvPr>
        </p:nvSpPr>
        <p:spPr>
          <a:xfrm>
            <a:off x="5183187" y="987425"/>
            <a:ext cx="644648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D7CE0BB-D335-4391-A23F-194C575CAF8F}"/>
              </a:ext>
            </a:extLst>
          </p:cNvPr>
          <p:cNvSpPr>
            <a:spLocks noGrp="1"/>
          </p:cNvSpPr>
          <p:nvPr>
            <p:ph type="body" sz="half" idx="2"/>
          </p:nvPr>
        </p:nvSpPr>
        <p:spPr>
          <a:xfrm>
            <a:off x="484632" y="3645074"/>
            <a:ext cx="4287393" cy="2223914"/>
          </a:xfrm>
        </p:spPr>
        <p:txBody>
          <a:bodyPr/>
          <a:lstStyle>
            <a:lvl1pPr marL="0" indent="0">
              <a:buNone/>
              <a:defRPr lang="en-US" sz="240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701E1-B97B-4DA5-B9AD-07B7C12476AE}"/>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6" name="Footer Placeholder 5">
            <a:extLst>
              <a:ext uri="{FF2B5EF4-FFF2-40B4-BE49-F238E27FC236}">
                <a16:creationId xmlns:a16="http://schemas.microsoft.com/office/drawing/2014/main" id="{076D9CF8-F42F-4618-9F26-8BFE56487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A2023-1ECA-4A96-BDC7-F7FA4368BE1B}"/>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888851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999A10-4355-4A13-B008-196B21ABEEAF}"/>
              </a:ext>
              <a:ext uri="{C183D7F6-B498-43B3-948B-1728B52AA6E4}">
                <adec:decorative xmlns:adec="http://schemas.microsoft.com/office/drawing/2017/decorative" val="1"/>
              </a:ext>
            </a:extLst>
          </p:cNvPr>
          <p:cNvSpPr/>
          <p:nvPr/>
        </p:nvSpPr>
        <p:spPr>
          <a:xfrm>
            <a:off x="482600" y="483576"/>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36D448-AFEA-4483-B0E4-002840525CDD}"/>
              </a:ext>
            </a:extLst>
          </p:cNvPr>
          <p:cNvSpPr>
            <a:spLocks noGrp="1"/>
          </p:cNvSpPr>
          <p:nvPr>
            <p:ph type="title"/>
          </p:nvPr>
        </p:nvSpPr>
        <p:spPr>
          <a:xfrm>
            <a:off x="482600" y="978408"/>
            <a:ext cx="10506991" cy="1755263"/>
          </a:xfrm>
          <a:prstGeom prst="rect">
            <a:avLst/>
          </a:prstGeo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F216234-4516-4303-8F60-A8127D89A5E5}"/>
              </a:ext>
            </a:extLst>
          </p:cNvPr>
          <p:cNvSpPr>
            <a:spLocks noGrp="1"/>
          </p:cNvSpPr>
          <p:nvPr>
            <p:ph type="body" orient="vert" idx="1"/>
          </p:nvPr>
        </p:nvSpPr>
        <p:spPr>
          <a:xfrm>
            <a:off x="484192" y="3103131"/>
            <a:ext cx="10506991" cy="30929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6B5D50-A474-462B-A807-DF186B1C2F48}"/>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5" name="Footer Placeholder 4">
            <a:extLst>
              <a:ext uri="{FF2B5EF4-FFF2-40B4-BE49-F238E27FC236}">
                <a16:creationId xmlns:a16="http://schemas.microsoft.com/office/drawing/2014/main" id="{F8BF1DAF-2E2D-46ED-AA3E-3D2FE4039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2FC771-EB13-4EB5-A0A2-3968C6ABBD4E}"/>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8" name="Straight Connector 7">
            <a:extLst>
              <a:ext uri="{FF2B5EF4-FFF2-40B4-BE49-F238E27FC236}">
                <a16:creationId xmlns:a16="http://schemas.microsoft.com/office/drawing/2014/main" id="{B3B596B8-8230-4695-8D76-F06AFA8156C3}"/>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53EBF93-5FD9-4F4E-8485-7B937145CD0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4645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6B4D06-C7C6-4949-8EB2-F03ED999A2BB}"/>
              </a:ext>
            </a:extLst>
          </p:cNvPr>
          <p:cNvSpPr>
            <a:spLocks noGrp="1"/>
          </p:cNvSpPr>
          <p:nvPr>
            <p:ph type="title" orient="vert"/>
          </p:nvPr>
        </p:nvSpPr>
        <p:spPr>
          <a:xfrm>
            <a:off x="8041710" y="978408"/>
            <a:ext cx="2947881" cy="5124777"/>
          </a:xfrm>
          <a:prstGeom prst="rect">
            <a:avLst/>
          </a:prstGeo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C921B9D-8C11-4176-AF22-89F972E21284}"/>
              </a:ext>
            </a:extLst>
          </p:cNvPr>
          <p:cNvSpPr>
            <a:spLocks noGrp="1"/>
          </p:cNvSpPr>
          <p:nvPr>
            <p:ph type="body" orient="vert" idx="1"/>
          </p:nvPr>
        </p:nvSpPr>
        <p:spPr>
          <a:xfrm>
            <a:off x="484632" y="978408"/>
            <a:ext cx="7256453" cy="512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AFA9E1C-8E18-4A35-9BD8-427B1D14BB8E}"/>
              </a:ext>
            </a:extLst>
          </p:cNvPr>
          <p:cNvSpPr>
            <a:spLocks noGrp="1"/>
          </p:cNvSpPr>
          <p:nvPr>
            <p:ph type="dt" sz="half" idx="10"/>
          </p:nvPr>
        </p:nvSpPr>
        <p:spPr/>
        <p:txBody>
          <a:bodyPr/>
          <a:lstStyle/>
          <a:p>
            <a:fld id="{81B8F32D-D8B6-4B9E-9CBF-DCAC30B7B93D}" type="datetimeFigureOut">
              <a:rPr lang="en-US" smtClean="0"/>
              <a:t>3/1/2026</a:t>
            </a:fld>
            <a:endParaRPr lang="en-US"/>
          </a:p>
        </p:txBody>
      </p:sp>
      <p:sp>
        <p:nvSpPr>
          <p:cNvPr id="5" name="Footer Placeholder 4">
            <a:extLst>
              <a:ext uri="{FF2B5EF4-FFF2-40B4-BE49-F238E27FC236}">
                <a16:creationId xmlns:a16="http://schemas.microsoft.com/office/drawing/2014/main" id="{2E116CDB-7BB6-4DD2-A626-6DA8E569F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D0403B-439E-449F-83B1-799EEC239A2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2484918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87A535-3CAC-46BC-B2B2-3AE83EC3A561}"/>
              </a:ext>
            </a:extLst>
          </p:cNvPr>
          <p:cNvSpPr>
            <a:spLocks noGrp="1"/>
          </p:cNvSpPr>
          <p:nvPr>
            <p:ph type="title"/>
          </p:nvPr>
        </p:nvSpPr>
        <p:spPr>
          <a:xfrm>
            <a:off x="482600" y="978408"/>
            <a:ext cx="10506991" cy="215309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D8EBDBD-59EC-46ED-BE79-6D37B531D692}"/>
              </a:ext>
            </a:extLst>
          </p:cNvPr>
          <p:cNvSpPr>
            <a:spLocks noGrp="1"/>
          </p:cNvSpPr>
          <p:nvPr>
            <p:ph type="body" idx="1"/>
          </p:nvPr>
        </p:nvSpPr>
        <p:spPr>
          <a:xfrm>
            <a:off x="482600" y="3306870"/>
            <a:ext cx="10506991" cy="257272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5921F5C-FD3D-42C7-90F4-5ECE6FFCFE7F}"/>
              </a:ext>
            </a:extLst>
          </p:cNvPr>
          <p:cNvSpPr>
            <a:spLocks noGrp="1"/>
          </p:cNvSpPr>
          <p:nvPr>
            <p:ph type="dt" sz="half" idx="2"/>
          </p:nvPr>
        </p:nvSpPr>
        <p:spPr>
          <a:xfrm>
            <a:off x="484632" y="100584"/>
            <a:ext cx="2743200" cy="365125"/>
          </a:xfrm>
          <a:prstGeom prst="rect">
            <a:avLst/>
          </a:prstGeom>
        </p:spPr>
        <p:txBody>
          <a:bodyPr vert="horz" lIns="91440" tIns="45720" rIns="91440" bIns="45720" rtlCol="0" anchor="ctr"/>
          <a:lstStyle>
            <a:lvl1pPr algn="l">
              <a:defRPr sz="900">
                <a:solidFill>
                  <a:schemeClr val="tx1"/>
                </a:solidFill>
              </a:defRPr>
            </a:lvl1pPr>
          </a:lstStyle>
          <a:p>
            <a:fld id="{81B8F32D-D8B6-4B9E-9CBF-DCAC30B7B93D}" type="datetimeFigureOut">
              <a:rPr lang="en-US" smtClean="0"/>
              <a:pPr/>
              <a:t>3/1/2026</a:t>
            </a:fld>
            <a:endParaRPr lang="en-US" dirty="0"/>
          </a:p>
        </p:txBody>
      </p:sp>
      <p:sp>
        <p:nvSpPr>
          <p:cNvPr id="5" name="Footer Placeholder 4">
            <a:extLst>
              <a:ext uri="{FF2B5EF4-FFF2-40B4-BE49-F238E27FC236}">
                <a16:creationId xmlns:a16="http://schemas.microsoft.com/office/drawing/2014/main" id="{0FE63D50-6D0B-4963-97B9-A32AE63235B8}"/>
              </a:ext>
            </a:extLst>
          </p:cNvPr>
          <p:cNvSpPr>
            <a:spLocks noGrp="1"/>
          </p:cNvSpPr>
          <p:nvPr>
            <p:ph type="ftr" sz="quarter" idx="3"/>
          </p:nvPr>
        </p:nvSpPr>
        <p:spPr>
          <a:xfrm>
            <a:off x="484632" y="6419088"/>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6B5E08-CAC3-4C87-B143-5F8956AE905D}"/>
              </a:ext>
            </a:extLst>
          </p:cNvPr>
          <p:cNvSpPr>
            <a:spLocks noGrp="1"/>
          </p:cNvSpPr>
          <p:nvPr>
            <p:ph type="sldNum" sz="quarter" idx="4"/>
          </p:nvPr>
        </p:nvSpPr>
        <p:spPr>
          <a:xfrm>
            <a:off x="10989591" y="100584"/>
            <a:ext cx="640080" cy="365125"/>
          </a:xfrm>
          <a:prstGeom prst="rect">
            <a:avLst/>
          </a:prstGeom>
        </p:spPr>
        <p:txBody>
          <a:bodyPr vert="horz" lIns="91440" tIns="45720" rIns="91440" bIns="45720" rtlCol="0" anchor="ctr"/>
          <a:lstStyle>
            <a:lvl1pPr algn="r">
              <a:defRPr sz="900">
                <a:solidFill>
                  <a:schemeClr val="tx1"/>
                </a:solidFill>
              </a:defRPr>
            </a:lvl1pPr>
          </a:lstStyle>
          <a:p>
            <a:fld id="{60553ECD-7F6D-420D-93CA-D8D15EB427AC}" type="slidenum">
              <a:rPr lang="en-US" smtClean="0"/>
              <a:pPr/>
              <a:t>‹#›</a:t>
            </a:fld>
            <a:endParaRPr lang="en-US" dirty="0"/>
          </a:p>
        </p:txBody>
      </p:sp>
      <p:cxnSp>
        <p:nvCxnSpPr>
          <p:cNvPr id="8" name="Straight Connector 7">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38243568"/>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l" defTabSz="914400" rtl="0" eaLnBrk="1" latinLnBrk="0" hangingPunct="1">
        <a:lnSpc>
          <a:spcPct val="100000"/>
        </a:lnSpc>
        <a:spcBef>
          <a:spcPct val="0"/>
        </a:spcBef>
        <a:buNone/>
        <a:defRPr sz="66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E48FA233-30DB-4D0A-BF51-78D03F79F2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useBgFill="1">
        <p:nvSpPr>
          <p:cNvPr id="15" name="Rectangle 14">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34B9DE3-1715-4EE3-99FA-C9BC12F5D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EA76D7E-F1F8-D8D3-E64C-A46C6887117A}"/>
              </a:ext>
            </a:extLst>
          </p:cNvPr>
          <p:cNvPicPr>
            <a:picLocks noChangeAspect="1"/>
          </p:cNvPicPr>
          <p:nvPr/>
        </p:nvPicPr>
        <p:blipFill>
          <a:blip r:embed="rId2">
            <a:alphaModFix amt="40000"/>
          </a:blip>
          <a:srcRect t="1153" r="-1" b="13598"/>
          <a:stretch>
            <a:fillRect/>
          </a:stretch>
        </p:blipFill>
        <p:spPr>
          <a:xfrm>
            <a:off x="20" y="10"/>
            <a:ext cx="12188932" cy="6857990"/>
          </a:xfrm>
          <a:prstGeom prst="rect">
            <a:avLst/>
          </a:prstGeom>
        </p:spPr>
      </p:pic>
      <p:sp>
        <p:nvSpPr>
          <p:cNvPr id="2" name="Title 1">
            <a:extLst>
              <a:ext uri="{FF2B5EF4-FFF2-40B4-BE49-F238E27FC236}">
                <a16:creationId xmlns:a16="http://schemas.microsoft.com/office/drawing/2014/main" id="{C5C17399-C603-9E5D-1E86-D0B75366E0FD}"/>
              </a:ext>
            </a:extLst>
          </p:cNvPr>
          <p:cNvSpPr>
            <a:spLocks noGrp="1"/>
          </p:cNvSpPr>
          <p:nvPr>
            <p:ph type="ctrTitle"/>
          </p:nvPr>
        </p:nvSpPr>
        <p:spPr>
          <a:xfrm>
            <a:off x="482601" y="799418"/>
            <a:ext cx="5613398" cy="2929357"/>
          </a:xfrm>
        </p:spPr>
        <p:txBody>
          <a:bodyPr vert="horz" lIns="91440" tIns="45720" rIns="91440" bIns="45720" rtlCol="0" anchor="t">
            <a:normAutofit/>
          </a:bodyPr>
          <a:lstStyle/>
          <a:p>
            <a:pPr>
              <a:lnSpc>
                <a:spcPct val="90000"/>
              </a:lnSpc>
            </a:pPr>
            <a:r>
              <a:rPr lang="en-US" sz="4100" b="1" u="sng" dirty="0">
                <a:solidFill>
                  <a:srgbClr val="FFFFFF"/>
                </a:solidFill>
                <a:latin typeface="Times New Roman" panose="02020603050405020304" pitchFamily="18" charset="0"/>
                <a:cs typeface="Times New Roman" panose="02020603050405020304" pitchFamily="18" charset="0"/>
              </a:rPr>
              <a:t>Title</a:t>
            </a:r>
            <a:br>
              <a:rPr lang="en-US" sz="4100" dirty="0">
                <a:solidFill>
                  <a:srgbClr val="FFFFFF"/>
                </a:solidFill>
                <a:latin typeface="Times New Roman" panose="02020603050405020304" pitchFamily="18" charset="0"/>
                <a:cs typeface="Times New Roman" panose="02020603050405020304" pitchFamily="18" charset="0"/>
              </a:rPr>
            </a:br>
            <a:r>
              <a:rPr lang="en-US" sz="4100" dirty="0">
                <a:solidFill>
                  <a:srgbClr val="FFFFFF"/>
                </a:solidFill>
                <a:latin typeface="Times New Roman" panose="02020603050405020304" pitchFamily="18" charset="0"/>
                <a:cs typeface="Times New Roman" panose="02020603050405020304" pitchFamily="18" charset="0"/>
              </a:rPr>
              <a:t>Sentiment Analysis on IMDB Movie Reviews using Machine Learning / Deep Learning</a:t>
            </a:r>
          </a:p>
        </p:txBody>
      </p:sp>
      <p:cxnSp>
        <p:nvCxnSpPr>
          <p:cNvPr id="5" name="Straight Connector 4">
            <a:extLst>
              <a:ext uri="{FF2B5EF4-FFF2-40B4-BE49-F238E27FC236}">
                <a16:creationId xmlns:a16="http://schemas.microsoft.com/office/drawing/2014/main" id="{6108BD3D-CFD0-4A15-ACF6-EBC254CD7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3" name="Subtitle 2">
            <a:extLst>
              <a:ext uri="{FF2B5EF4-FFF2-40B4-BE49-F238E27FC236}">
                <a16:creationId xmlns:a16="http://schemas.microsoft.com/office/drawing/2014/main" id="{067E6115-A3E0-B5EC-B1FE-6FB17AA7883C}"/>
              </a:ext>
            </a:extLst>
          </p:cNvPr>
          <p:cNvSpPr>
            <a:spLocks noGrp="1"/>
          </p:cNvSpPr>
          <p:nvPr>
            <p:ph type="subTitle" idx="1"/>
          </p:nvPr>
        </p:nvSpPr>
        <p:spPr>
          <a:xfrm>
            <a:off x="6095999" y="3327093"/>
            <a:ext cx="5533671" cy="2701363"/>
          </a:xfrm>
        </p:spPr>
        <p:txBody>
          <a:bodyPr vert="horz" lIns="91440" tIns="45720" rIns="91440" bIns="45720" rtlCol="0" anchor="b">
            <a:noAutofit/>
          </a:bodyPr>
          <a:lstStyle/>
          <a:p>
            <a:pPr>
              <a:lnSpc>
                <a:spcPct val="90000"/>
              </a:lnSpc>
            </a:pPr>
            <a:r>
              <a:rPr lang="en-US" b="1" dirty="0">
                <a:solidFill>
                  <a:srgbClr val="FFFFFF"/>
                </a:solidFill>
                <a:latin typeface="Times New Roman" panose="02020603050405020304" pitchFamily="18" charset="0"/>
                <a:cs typeface="Times New Roman" panose="02020603050405020304" pitchFamily="18" charset="0"/>
              </a:rPr>
              <a:t>Progress-1 : Paper Summary</a:t>
            </a:r>
          </a:p>
          <a:p>
            <a:pPr>
              <a:lnSpc>
                <a:spcPct val="90000"/>
              </a:lnSpc>
            </a:pPr>
            <a:r>
              <a:rPr lang="en-US" dirty="0">
                <a:solidFill>
                  <a:srgbClr val="FFFFFF"/>
                </a:solidFill>
                <a:latin typeface="Times New Roman" panose="02020603050405020304" pitchFamily="18" charset="0"/>
                <a:cs typeface="Times New Roman" panose="02020603050405020304" pitchFamily="18" charset="0"/>
              </a:rPr>
              <a:t>In progress-1, As per the requirement, I am focusing on reading and summarizing the primary paper and related work before implementing the models</a:t>
            </a:r>
          </a:p>
          <a:p>
            <a:pPr>
              <a:lnSpc>
                <a:spcPct val="90000"/>
              </a:lnSpc>
            </a:pPr>
            <a:r>
              <a:rPr lang="en-US" b="1" dirty="0">
                <a:solidFill>
                  <a:srgbClr val="FFFFFF"/>
                </a:solidFill>
                <a:latin typeface="Times New Roman" panose="02020603050405020304" pitchFamily="18" charset="0"/>
                <a:cs typeface="Times New Roman" panose="02020603050405020304" pitchFamily="18" charset="0"/>
              </a:rPr>
              <a:t>Author:  </a:t>
            </a:r>
            <a:r>
              <a:rPr lang="en-US" dirty="0">
                <a:solidFill>
                  <a:srgbClr val="FFFFFF"/>
                </a:solidFill>
                <a:latin typeface="Times New Roman" panose="02020603050405020304" pitchFamily="18" charset="0"/>
                <a:cs typeface="Times New Roman" panose="02020603050405020304" pitchFamily="18" charset="0"/>
              </a:rPr>
              <a:t>Lakshmi Deepak Chidagam</a:t>
            </a:r>
          </a:p>
        </p:txBody>
      </p:sp>
      <p:cxnSp>
        <p:nvCxnSpPr>
          <p:cNvPr id="6" name="Straight Connector 5">
            <a:extLst>
              <a:ext uri="{FF2B5EF4-FFF2-40B4-BE49-F238E27FC236}">
                <a16:creationId xmlns:a16="http://schemas.microsoft.com/office/drawing/2014/main" id="{DB2019E5-6C31-4640-A135-6BBA7FFCF6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84349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42A98-B62D-524E-40F7-FF211DBA78D8}"/>
              </a:ext>
            </a:extLst>
          </p:cNvPr>
          <p:cNvSpPr>
            <a:spLocks noGrp="1"/>
          </p:cNvSpPr>
          <p:nvPr>
            <p:ph type="title"/>
          </p:nvPr>
        </p:nvSpPr>
        <p:spPr>
          <a:xfrm>
            <a:off x="482600" y="714004"/>
            <a:ext cx="5356340" cy="1335134"/>
          </a:xfrm>
        </p:spPr>
        <p:txBody>
          <a:bodyPr/>
          <a:lstStyle/>
          <a:p>
            <a:r>
              <a:rPr lang="en-US" sz="4400" b="1" u="sng"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D6676E56-84BA-B2C2-055F-D229FCA80DB4}"/>
              </a:ext>
            </a:extLst>
          </p:cNvPr>
          <p:cNvSpPr>
            <a:spLocks noGrp="1"/>
          </p:cNvSpPr>
          <p:nvPr>
            <p:ph idx="1"/>
          </p:nvPr>
        </p:nvSpPr>
        <p:spPr>
          <a:xfrm>
            <a:off x="482600" y="2049138"/>
            <a:ext cx="10506991" cy="3830453"/>
          </a:xfrm>
        </p:spPr>
        <p:txBody>
          <a:bodyPr>
            <a:noAutofit/>
          </a:bodyPr>
          <a:lstStyle/>
          <a:p>
            <a:r>
              <a:rPr lang="en-US" sz="2800" b="1" dirty="0">
                <a:latin typeface="Times New Roman" panose="02020603050405020304" pitchFamily="18" charset="0"/>
                <a:cs typeface="Times New Roman" panose="02020603050405020304" pitchFamily="18" charset="0"/>
              </a:rPr>
              <a:t>Task </a:t>
            </a:r>
            <a:r>
              <a:rPr lang="en-US" sz="2800" dirty="0">
                <a:latin typeface="Times New Roman" panose="02020603050405020304" pitchFamily="18" charset="0"/>
                <a:cs typeface="Times New Roman" panose="02020603050405020304" pitchFamily="18" charset="0"/>
              </a:rPr>
              <a:t>: Classify IMDB movie reviews as positive or negative.</a:t>
            </a:r>
          </a:p>
          <a:p>
            <a:r>
              <a:rPr lang="en-US" sz="2800" b="1" dirty="0">
                <a:latin typeface="Times New Roman" panose="02020603050405020304" pitchFamily="18" charset="0"/>
                <a:cs typeface="Times New Roman" panose="02020603050405020304" pitchFamily="18" charset="0"/>
              </a:rPr>
              <a:t>Problem</a:t>
            </a:r>
            <a:r>
              <a:rPr lang="en-US" sz="2800" dirty="0">
                <a:latin typeface="Times New Roman" panose="02020603050405020304" pitchFamily="18" charset="0"/>
                <a:cs typeface="Times New Roman" panose="02020603050405020304" pitchFamily="18" charset="0"/>
              </a:rPr>
              <a:t> : Manual review of user feedback is time-consuming and inconsistent.</a:t>
            </a:r>
          </a:p>
          <a:p>
            <a:r>
              <a:rPr lang="en-US" sz="2800" b="1" dirty="0">
                <a:latin typeface="Times New Roman" panose="02020603050405020304" pitchFamily="18" charset="0"/>
                <a:cs typeface="Times New Roman" panose="02020603050405020304" pitchFamily="18" charset="0"/>
              </a:rPr>
              <a:t>Goal</a:t>
            </a:r>
            <a:r>
              <a:rPr lang="en-US" sz="2800" dirty="0">
                <a:latin typeface="Times New Roman" panose="02020603050405020304" pitchFamily="18" charset="0"/>
                <a:cs typeface="Times New Roman" panose="02020603050405020304" pitchFamily="18" charset="0"/>
              </a:rPr>
              <a:t> : Apply machine learning models to automatically detect sentiment.</a:t>
            </a:r>
          </a:p>
          <a:p>
            <a:r>
              <a:rPr lang="en-US" sz="2800" dirty="0">
                <a:latin typeface="Times New Roman" panose="02020603050405020304" pitchFamily="18" charset="0"/>
                <a:cs typeface="Times New Roman" panose="02020603050405020304" pitchFamily="18" charset="0"/>
              </a:rPr>
              <a:t>I observed that main challenge is that identifying sentiment from text reviews. We can reduce the manual efforts by automating this process, providing consistent results, and It helps analyze large volumes of user reviews efficiently.</a:t>
            </a:r>
          </a:p>
        </p:txBody>
      </p:sp>
    </p:spTree>
    <p:extLst>
      <p:ext uri="{BB962C8B-B14F-4D97-AF65-F5344CB8AC3E}">
        <p14:creationId xmlns:p14="http://schemas.microsoft.com/office/powerpoint/2010/main" val="4060001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6AF5B-F772-3907-B604-DCCC375EB1FB}"/>
              </a:ext>
            </a:extLst>
          </p:cNvPr>
          <p:cNvSpPr>
            <a:spLocks noGrp="1"/>
          </p:cNvSpPr>
          <p:nvPr>
            <p:ph type="title"/>
          </p:nvPr>
        </p:nvSpPr>
        <p:spPr>
          <a:xfrm>
            <a:off x="482600" y="563670"/>
            <a:ext cx="4210586" cy="1241491"/>
          </a:xfrm>
        </p:spPr>
        <p:txBody>
          <a:bodyPr/>
          <a:lstStyle/>
          <a:p>
            <a:r>
              <a:rPr lang="en-US" sz="4800" b="1" u="sng" dirty="0">
                <a:latin typeface="Times New Roman" panose="02020603050405020304" pitchFamily="18" charset="0"/>
                <a:cs typeface="Times New Roman" panose="02020603050405020304" pitchFamily="18" charset="0"/>
              </a:rPr>
              <a:t>Dataset Used</a:t>
            </a:r>
          </a:p>
        </p:txBody>
      </p:sp>
      <p:sp>
        <p:nvSpPr>
          <p:cNvPr id="3" name="Content Placeholder 2">
            <a:extLst>
              <a:ext uri="{FF2B5EF4-FFF2-40B4-BE49-F238E27FC236}">
                <a16:creationId xmlns:a16="http://schemas.microsoft.com/office/drawing/2014/main" id="{909E0176-4558-7EE3-31C0-EFEF8D25DE42}"/>
              </a:ext>
            </a:extLst>
          </p:cNvPr>
          <p:cNvSpPr>
            <a:spLocks noGrp="1"/>
          </p:cNvSpPr>
          <p:nvPr>
            <p:ph idx="1"/>
          </p:nvPr>
        </p:nvSpPr>
        <p:spPr>
          <a:xfrm>
            <a:off x="482600" y="1805162"/>
            <a:ext cx="11195280" cy="4489168"/>
          </a:xfrm>
        </p:spPr>
        <p:txBody>
          <a:bodyPr>
            <a:noAutofit/>
          </a:bodyPr>
          <a:lstStyle/>
          <a:p>
            <a:r>
              <a:rPr lang="en-US" sz="2800" b="1" dirty="0">
                <a:latin typeface="Times New Roman" panose="02020603050405020304" pitchFamily="18" charset="0"/>
                <a:cs typeface="Times New Roman" panose="02020603050405020304" pitchFamily="18" charset="0"/>
              </a:rPr>
              <a:t>Dataset</a:t>
            </a:r>
            <a:r>
              <a:rPr lang="en-US" sz="2800" dirty="0">
                <a:latin typeface="Times New Roman" panose="02020603050405020304" pitchFamily="18" charset="0"/>
                <a:cs typeface="Times New Roman" panose="02020603050405020304" pitchFamily="18" charset="0"/>
              </a:rPr>
              <a:t>: IMDB Movie Reviews, 50,000 reviews (25k positive, 25k negative)</a:t>
            </a:r>
          </a:p>
          <a:p>
            <a:r>
              <a:rPr lang="en-US" sz="2800" b="1" dirty="0">
                <a:latin typeface="Times New Roman" panose="02020603050405020304" pitchFamily="18" charset="0"/>
                <a:cs typeface="Times New Roman" panose="02020603050405020304" pitchFamily="18" charset="0"/>
              </a:rPr>
              <a:t>Original paper dataset</a:t>
            </a:r>
            <a:r>
              <a:rPr lang="en-US" sz="2800" dirty="0">
                <a:latin typeface="Times New Roman" panose="02020603050405020304" pitchFamily="18" charset="0"/>
                <a:cs typeface="Times New Roman" panose="02020603050405020304" pitchFamily="18" charset="0"/>
              </a:rPr>
              <a:t>: 2,000 movie reviews (Pang et al., 2002)</a:t>
            </a:r>
          </a:p>
          <a:p>
            <a:r>
              <a:rPr lang="en-US" sz="2800" b="1" dirty="0">
                <a:latin typeface="Times New Roman" panose="02020603050405020304" pitchFamily="18" charset="0"/>
                <a:cs typeface="Times New Roman" panose="02020603050405020304" pitchFamily="18" charset="0"/>
              </a:rPr>
              <a:t>Preprocessing</a:t>
            </a:r>
            <a:r>
              <a:rPr lang="en-US" sz="2800" dirty="0">
                <a:latin typeface="Times New Roman" panose="02020603050405020304" pitchFamily="18" charset="0"/>
                <a:cs typeface="Times New Roman" panose="02020603050405020304" pitchFamily="18" charset="0"/>
              </a:rPr>
              <a:t>: lowercase conversion, punctuation removal, </a:t>
            </a:r>
            <a:r>
              <a:rPr lang="en-US" sz="2800" dirty="0" err="1">
                <a:latin typeface="Times New Roman" panose="02020603050405020304" pitchFamily="18" charset="0"/>
                <a:cs typeface="Times New Roman" panose="02020603050405020304" pitchFamily="18" charset="0"/>
              </a:rPr>
              <a:t>stopwords</a:t>
            </a:r>
            <a:r>
              <a:rPr lang="en-US" sz="2800" dirty="0">
                <a:latin typeface="Times New Roman" panose="02020603050405020304" pitchFamily="18" charset="0"/>
                <a:cs typeface="Times New Roman" panose="02020603050405020304" pitchFamily="18" charset="0"/>
              </a:rPr>
              <a:t> removal, tokenization, stemming/lemmatization</a:t>
            </a:r>
          </a:p>
          <a:p>
            <a:r>
              <a:rPr lang="en-US" sz="2800" dirty="0">
                <a:latin typeface="Times New Roman" panose="02020603050405020304" pitchFamily="18" charset="0"/>
                <a:cs typeface="Times New Roman" panose="02020603050405020304" pitchFamily="18" charset="0"/>
              </a:rPr>
              <a:t>The paper used a smaller IMDB dataset with 2,000 reviews, but for this project I am using the Kaggle 50,000 review dataset. Preprocessing ensures clean textual data suitable for machine learning models.</a:t>
            </a:r>
          </a:p>
        </p:txBody>
      </p:sp>
    </p:spTree>
    <p:extLst>
      <p:ext uri="{BB962C8B-B14F-4D97-AF65-F5344CB8AC3E}">
        <p14:creationId xmlns:p14="http://schemas.microsoft.com/office/powerpoint/2010/main" val="34881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AF921-7606-89F5-B9E0-4A9DDEE54098}"/>
              </a:ext>
            </a:extLst>
          </p:cNvPr>
          <p:cNvSpPr>
            <a:spLocks noGrp="1"/>
          </p:cNvSpPr>
          <p:nvPr>
            <p:ph type="title"/>
          </p:nvPr>
        </p:nvSpPr>
        <p:spPr>
          <a:xfrm>
            <a:off x="482600" y="407624"/>
            <a:ext cx="10634472" cy="1795749"/>
          </a:xfrm>
        </p:spPr>
        <p:txBody>
          <a:bodyPr/>
          <a:lstStyle/>
          <a:p>
            <a:r>
              <a:rPr lang="en-US" sz="4400" b="1" dirty="0">
                <a:latin typeface="Times New Roman" panose="02020603050405020304" pitchFamily="18" charset="0"/>
                <a:cs typeface="Times New Roman" panose="02020603050405020304" pitchFamily="18" charset="0"/>
              </a:rPr>
              <a:t>Methodology (Primary Paper + Modern Adaptation)</a:t>
            </a:r>
          </a:p>
        </p:txBody>
      </p:sp>
      <p:sp>
        <p:nvSpPr>
          <p:cNvPr id="3" name="Content Placeholder 2">
            <a:extLst>
              <a:ext uri="{FF2B5EF4-FFF2-40B4-BE49-F238E27FC236}">
                <a16:creationId xmlns:a16="http://schemas.microsoft.com/office/drawing/2014/main" id="{08EEFE58-76F1-C0BC-FBD6-263B4D4E9BF9}"/>
              </a:ext>
            </a:extLst>
          </p:cNvPr>
          <p:cNvSpPr>
            <a:spLocks noGrp="1"/>
          </p:cNvSpPr>
          <p:nvPr>
            <p:ph idx="1"/>
          </p:nvPr>
        </p:nvSpPr>
        <p:spPr>
          <a:xfrm>
            <a:off x="482600" y="2104222"/>
            <a:ext cx="10506991" cy="3775369"/>
          </a:xfrm>
        </p:spPr>
        <p:txBody>
          <a:bodyPr>
            <a:normAutofit fontScale="70000" lnSpcReduction="20000"/>
          </a:bodyPr>
          <a:lstStyle/>
          <a:p>
            <a:r>
              <a:rPr lang="en-US" sz="3200" b="1" dirty="0">
                <a:latin typeface="Times New Roman" panose="02020603050405020304" pitchFamily="18" charset="0"/>
                <a:cs typeface="Times New Roman" panose="02020603050405020304" pitchFamily="18" charset="0"/>
              </a:rPr>
              <a:t>Feature Extraction: </a:t>
            </a:r>
            <a:r>
              <a:rPr lang="en-US" sz="3200" dirty="0">
                <a:latin typeface="Times New Roman" panose="02020603050405020304" pitchFamily="18" charset="0"/>
                <a:cs typeface="Times New Roman" panose="02020603050405020304" pitchFamily="18" charset="0"/>
              </a:rPr>
              <a:t>Bag-of-Words (</a:t>
            </a:r>
            <a:r>
              <a:rPr lang="en-US" sz="3200" dirty="0" err="1">
                <a:latin typeface="Times New Roman" panose="02020603050405020304" pitchFamily="18" charset="0"/>
                <a:cs typeface="Times New Roman" panose="02020603050405020304" pitchFamily="18" charset="0"/>
              </a:rPr>
              <a:t>BoW</a:t>
            </a:r>
            <a:r>
              <a:rPr lang="en-US" sz="3200" dirty="0">
                <a:latin typeface="Times New Roman" panose="02020603050405020304" pitchFamily="18" charset="0"/>
                <a:cs typeface="Times New Roman" panose="02020603050405020304" pitchFamily="18" charset="0"/>
              </a:rPr>
              <a:t>) – word presence/frequency (original paper)</a:t>
            </a:r>
          </a:p>
          <a:p>
            <a:r>
              <a:rPr lang="en-US" sz="3200" b="1" dirty="0">
                <a:latin typeface="Times New Roman" panose="02020603050405020304" pitchFamily="18" charset="0"/>
                <a:cs typeface="Times New Roman" panose="02020603050405020304" pitchFamily="18" charset="0"/>
              </a:rPr>
              <a:t>Modern adaptation: </a:t>
            </a:r>
            <a:r>
              <a:rPr lang="en-US" sz="3200" dirty="0">
                <a:latin typeface="Times New Roman" panose="02020603050405020304" pitchFamily="18" charset="0"/>
                <a:cs typeface="Times New Roman" panose="02020603050405020304" pitchFamily="18" charset="0"/>
              </a:rPr>
              <a:t>TF-IDF for additional experiments (not in original paper)</a:t>
            </a:r>
          </a:p>
          <a:p>
            <a:r>
              <a:rPr lang="en-US" sz="3200" b="1" dirty="0">
                <a:latin typeface="Times New Roman" panose="02020603050405020304" pitchFamily="18" charset="0"/>
                <a:cs typeface="Times New Roman" panose="02020603050405020304" pitchFamily="18" charset="0"/>
              </a:rPr>
              <a:t>Models Used in Original Paper:</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Naive Bayes, Support Vector Machines (SVM), Maximum Entropy (</a:t>
            </a:r>
            <a:r>
              <a:rPr lang="en-US" sz="3200" dirty="0" err="1">
                <a:latin typeface="Times New Roman" panose="02020603050405020304" pitchFamily="18" charset="0"/>
                <a:cs typeface="Times New Roman" panose="02020603050405020304" pitchFamily="18" charset="0"/>
              </a:rPr>
              <a:t>MaxEnt</a:t>
            </a:r>
            <a:r>
              <a:rPr lang="en-US" sz="3200" dirty="0">
                <a:latin typeface="Times New Roman" panose="02020603050405020304" pitchFamily="18" charset="0"/>
                <a:cs typeface="Times New Roman" panose="02020603050405020304" pitchFamily="18" charset="0"/>
              </a:rPr>
              <a:t>)</a:t>
            </a:r>
          </a:p>
          <a:p>
            <a:r>
              <a:rPr lang="en-US" sz="3200" b="1" dirty="0">
                <a:latin typeface="Times New Roman" panose="02020603050405020304" pitchFamily="18" charset="0"/>
                <a:cs typeface="Times New Roman" panose="02020603050405020304" pitchFamily="18" charset="0"/>
              </a:rPr>
              <a:t>Workflow:</a:t>
            </a:r>
          </a:p>
          <a:p>
            <a:r>
              <a:rPr lang="en-US" sz="3200" dirty="0">
                <a:latin typeface="Times New Roman" panose="02020603050405020304" pitchFamily="18" charset="0"/>
                <a:cs typeface="Times New Roman" panose="02020603050405020304" pitchFamily="18" charset="0"/>
              </a:rPr>
              <a:t>Preprocess text</a:t>
            </a:r>
          </a:p>
          <a:p>
            <a:r>
              <a:rPr lang="en-US" sz="3200" dirty="0">
                <a:latin typeface="Times New Roman" panose="02020603050405020304" pitchFamily="18" charset="0"/>
                <a:cs typeface="Times New Roman" panose="02020603050405020304" pitchFamily="18" charset="0"/>
              </a:rPr>
              <a:t>Extract features using Bag of Words </a:t>
            </a:r>
          </a:p>
          <a:p>
            <a:r>
              <a:rPr lang="en-US" sz="3200" dirty="0">
                <a:latin typeface="Times New Roman" panose="02020603050405020304" pitchFamily="18" charset="0"/>
                <a:cs typeface="Times New Roman" panose="02020603050405020304" pitchFamily="18" charset="0"/>
              </a:rPr>
              <a:t>Train ML models</a:t>
            </a:r>
          </a:p>
          <a:p>
            <a:r>
              <a:rPr lang="en-US" sz="3200" dirty="0">
                <a:latin typeface="Times New Roman" panose="02020603050405020304" pitchFamily="18" charset="0"/>
                <a:cs typeface="Times New Roman" panose="02020603050405020304" pitchFamily="18" charset="0"/>
              </a:rPr>
              <a:t>Evaluate using accuracy</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163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C9A8F-5E7D-3937-2F2A-915348B7907C}"/>
              </a:ext>
            </a:extLst>
          </p:cNvPr>
          <p:cNvSpPr>
            <a:spLocks noGrp="1"/>
          </p:cNvSpPr>
          <p:nvPr>
            <p:ph type="title"/>
          </p:nvPr>
        </p:nvSpPr>
        <p:spPr>
          <a:xfrm>
            <a:off x="482600" y="614852"/>
            <a:ext cx="4607193" cy="1478353"/>
          </a:xfrm>
        </p:spPr>
        <p:txBody>
          <a:bodyPr/>
          <a:lstStyle/>
          <a:p>
            <a:r>
              <a:rPr lang="en-US" sz="4400" b="1" dirty="0">
                <a:latin typeface="Times New Roman" panose="02020603050405020304" pitchFamily="18" charset="0"/>
                <a:cs typeface="Times New Roman" panose="02020603050405020304" pitchFamily="18" charset="0"/>
              </a:rPr>
              <a:t>Results / Insights </a:t>
            </a:r>
          </a:p>
        </p:txBody>
      </p:sp>
      <p:sp>
        <p:nvSpPr>
          <p:cNvPr id="3" name="Content Placeholder 2">
            <a:extLst>
              <a:ext uri="{FF2B5EF4-FFF2-40B4-BE49-F238E27FC236}">
                <a16:creationId xmlns:a16="http://schemas.microsoft.com/office/drawing/2014/main" id="{DCC5B90C-F149-AAAD-16E9-52C7B6103085}"/>
              </a:ext>
            </a:extLst>
          </p:cNvPr>
          <p:cNvSpPr>
            <a:spLocks noGrp="1"/>
          </p:cNvSpPr>
          <p:nvPr>
            <p:ph idx="1"/>
          </p:nvPr>
        </p:nvSpPr>
        <p:spPr>
          <a:xfrm>
            <a:off x="482600" y="1828800"/>
            <a:ext cx="11107145" cy="4050791"/>
          </a:xfrm>
        </p:spPr>
        <p:txBody>
          <a:bodyPr>
            <a:noAutofit/>
          </a:bodyPr>
          <a:lstStyle/>
          <a:p>
            <a:r>
              <a:rPr lang="en-US" sz="2800" dirty="0">
                <a:latin typeface="Times New Roman" panose="02020603050405020304" pitchFamily="18" charset="0"/>
                <a:cs typeface="Times New Roman" panose="02020603050405020304" pitchFamily="18" charset="0"/>
              </a:rPr>
              <a:t>Accuracy for unigram presence features:</a:t>
            </a:r>
          </a:p>
          <a:p>
            <a:r>
              <a:rPr lang="en-US" sz="2800" dirty="0">
                <a:latin typeface="Times New Roman" panose="02020603050405020304" pitchFamily="18" charset="0"/>
                <a:cs typeface="Times New Roman" panose="02020603050405020304" pitchFamily="18" charset="0"/>
              </a:rPr>
              <a:t>SVM :  82.9%</a:t>
            </a:r>
          </a:p>
          <a:p>
            <a:r>
              <a:rPr lang="en-US" sz="2800" dirty="0">
                <a:latin typeface="Times New Roman" panose="02020603050405020304" pitchFamily="18" charset="0"/>
                <a:cs typeface="Times New Roman" panose="02020603050405020304" pitchFamily="18" charset="0"/>
              </a:rPr>
              <a:t>Naive Bayes : 82%</a:t>
            </a:r>
          </a:p>
          <a:p>
            <a:r>
              <a:rPr lang="en-US" sz="2800" dirty="0" err="1">
                <a:latin typeface="Times New Roman" panose="02020603050405020304" pitchFamily="18" charset="0"/>
                <a:cs typeface="Times New Roman" panose="02020603050405020304" pitchFamily="18" charset="0"/>
              </a:rPr>
              <a:t>MaxEnt</a:t>
            </a:r>
            <a:r>
              <a:rPr lang="en-US" sz="2800" dirty="0">
                <a:latin typeface="Times New Roman" panose="02020603050405020304" pitchFamily="18" charset="0"/>
                <a:cs typeface="Times New Roman" panose="02020603050405020304" pitchFamily="18" charset="0"/>
              </a:rPr>
              <a:t> : competitive with SVM (82–83%)</a:t>
            </a:r>
          </a:p>
          <a:p>
            <a:r>
              <a:rPr lang="en-US" sz="2800" dirty="0">
                <a:latin typeface="Times New Roman" panose="02020603050405020304" pitchFamily="18" charset="0"/>
                <a:cs typeface="Times New Roman" panose="02020603050405020304" pitchFamily="18" charset="0"/>
              </a:rPr>
              <a:t>Representation is critical as choice of features strongly affects model performance.</a:t>
            </a:r>
          </a:p>
          <a:p>
            <a:r>
              <a:rPr lang="en-US" sz="2800" dirty="0">
                <a:latin typeface="Times New Roman" panose="02020603050405020304" pitchFamily="18" charset="0"/>
                <a:cs typeface="Times New Roman" panose="02020603050405020304" pitchFamily="18" charset="0"/>
              </a:rPr>
              <a:t>Simple ML models can achieve strong results, even with independence assumptions (Naive Bayes).</a:t>
            </a:r>
          </a:p>
        </p:txBody>
      </p:sp>
    </p:spTree>
    <p:extLst>
      <p:ext uri="{BB962C8B-B14F-4D97-AF65-F5344CB8AC3E}">
        <p14:creationId xmlns:p14="http://schemas.microsoft.com/office/powerpoint/2010/main" val="4098534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CA17D-53BA-C6D2-381D-7665B04FF9F0}"/>
              </a:ext>
            </a:extLst>
          </p:cNvPr>
          <p:cNvSpPr>
            <a:spLocks noGrp="1"/>
          </p:cNvSpPr>
          <p:nvPr>
            <p:ph type="title"/>
          </p:nvPr>
        </p:nvSpPr>
        <p:spPr>
          <a:xfrm>
            <a:off x="482600" y="473725"/>
            <a:ext cx="6865651" cy="925416"/>
          </a:xfrm>
        </p:spPr>
        <p:txBody>
          <a:bodyPr/>
          <a:lstStyle/>
          <a:p>
            <a:r>
              <a:rPr lang="en-US" sz="4400" b="1" u="sng" dirty="0">
                <a:latin typeface="Times New Roman" panose="02020603050405020304" pitchFamily="18" charset="0"/>
                <a:cs typeface="Times New Roman" panose="02020603050405020304" pitchFamily="18" charset="0"/>
              </a:rPr>
              <a:t>Related Work Comparison</a:t>
            </a:r>
          </a:p>
        </p:txBody>
      </p:sp>
      <p:graphicFrame>
        <p:nvGraphicFramePr>
          <p:cNvPr id="4" name="Content Placeholder 3">
            <a:extLst>
              <a:ext uri="{FF2B5EF4-FFF2-40B4-BE49-F238E27FC236}">
                <a16:creationId xmlns:a16="http://schemas.microsoft.com/office/drawing/2014/main" id="{E155375E-046F-F302-C680-2DD89E7A4DA1}"/>
              </a:ext>
            </a:extLst>
          </p:cNvPr>
          <p:cNvGraphicFramePr>
            <a:graphicFrameLocks noGrp="1"/>
          </p:cNvGraphicFramePr>
          <p:nvPr>
            <p:ph idx="1"/>
            <p:extLst>
              <p:ext uri="{D42A27DB-BD31-4B8C-83A1-F6EECF244321}">
                <p14:modId xmlns:p14="http://schemas.microsoft.com/office/powerpoint/2010/main" val="650916325"/>
              </p:ext>
            </p:extLst>
          </p:nvPr>
        </p:nvGraphicFramePr>
        <p:xfrm>
          <a:off x="482600" y="1531343"/>
          <a:ext cx="11118160" cy="5017265"/>
        </p:xfrm>
        <a:graphic>
          <a:graphicData uri="http://schemas.openxmlformats.org/drawingml/2006/table">
            <a:tbl>
              <a:tblPr firstRow="1" bandRow="1">
                <a:tableStyleId>{93296810-A885-4BE3-A3E7-6D5BEEA58F35}</a:tableStyleId>
              </a:tblPr>
              <a:tblGrid>
                <a:gridCol w="2128399">
                  <a:extLst>
                    <a:ext uri="{9D8B030D-6E8A-4147-A177-3AD203B41FA5}">
                      <a16:colId xmlns:a16="http://schemas.microsoft.com/office/drawing/2014/main" val="2310982065"/>
                    </a:ext>
                  </a:extLst>
                </a:gridCol>
                <a:gridCol w="2302525">
                  <a:extLst>
                    <a:ext uri="{9D8B030D-6E8A-4147-A177-3AD203B41FA5}">
                      <a16:colId xmlns:a16="http://schemas.microsoft.com/office/drawing/2014/main" val="3153076331"/>
                    </a:ext>
                  </a:extLst>
                </a:gridCol>
                <a:gridCol w="3260993">
                  <a:extLst>
                    <a:ext uri="{9D8B030D-6E8A-4147-A177-3AD203B41FA5}">
                      <a16:colId xmlns:a16="http://schemas.microsoft.com/office/drawing/2014/main" val="3462972746"/>
                    </a:ext>
                  </a:extLst>
                </a:gridCol>
                <a:gridCol w="3426243">
                  <a:extLst>
                    <a:ext uri="{9D8B030D-6E8A-4147-A177-3AD203B41FA5}">
                      <a16:colId xmlns:a16="http://schemas.microsoft.com/office/drawing/2014/main" val="2902552969"/>
                    </a:ext>
                  </a:extLst>
                </a:gridCol>
              </a:tblGrid>
              <a:tr h="1054865">
                <a:tc>
                  <a:txBody>
                    <a:bodyPr/>
                    <a:lstStyle/>
                    <a:p>
                      <a:r>
                        <a:rPr lang="en-US" sz="4000" dirty="0">
                          <a:latin typeface="Times New Roman" panose="02020603050405020304" pitchFamily="18" charset="0"/>
                          <a:cs typeface="Times New Roman" panose="02020603050405020304" pitchFamily="18" charset="0"/>
                        </a:rPr>
                        <a:t>Paper</a:t>
                      </a:r>
                    </a:p>
                  </a:txBody>
                  <a:tcPr/>
                </a:tc>
                <a:tc>
                  <a:txBody>
                    <a:bodyPr/>
                    <a:lstStyle/>
                    <a:p>
                      <a:pPr algn="l">
                        <a:buNone/>
                      </a:pPr>
                      <a:r>
                        <a:rPr lang="en-US" sz="4000" dirty="0">
                          <a:latin typeface="Times New Roman" panose="02020603050405020304" pitchFamily="18" charset="0"/>
                          <a:cs typeface="Times New Roman" panose="02020603050405020304" pitchFamily="18" charset="0"/>
                        </a:rPr>
                        <a:t>Focus</a:t>
                      </a:r>
                    </a:p>
                  </a:txBody>
                  <a:tcPr anchor="ctr"/>
                </a:tc>
                <a:tc>
                  <a:txBody>
                    <a:bodyPr/>
                    <a:lstStyle/>
                    <a:p>
                      <a:r>
                        <a:rPr lang="en-US" sz="4000" dirty="0">
                          <a:latin typeface="Times New Roman" panose="02020603050405020304" pitchFamily="18" charset="0"/>
                          <a:cs typeface="Times New Roman" panose="02020603050405020304" pitchFamily="18" charset="0"/>
                        </a:rPr>
                        <a:t>Contribution</a:t>
                      </a:r>
                    </a:p>
                  </a:txBody>
                  <a:tcPr/>
                </a:tc>
                <a:tc>
                  <a:txBody>
                    <a:bodyPr/>
                    <a:lstStyle/>
                    <a:p>
                      <a:r>
                        <a:rPr lang="en-US" sz="4000" dirty="0">
                          <a:latin typeface="Times New Roman" panose="02020603050405020304" pitchFamily="18" charset="0"/>
                          <a:cs typeface="Times New Roman" panose="02020603050405020304" pitchFamily="18" charset="0"/>
                        </a:rPr>
                        <a:t>Relevance to Project</a:t>
                      </a:r>
                    </a:p>
                  </a:txBody>
                  <a:tcPr/>
                </a:tc>
                <a:extLst>
                  <a:ext uri="{0D108BD9-81ED-4DB2-BD59-A6C34878D82A}">
                    <a16:rowId xmlns:a16="http://schemas.microsoft.com/office/drawing/2014/main" val="1838453004"/>
                  </a:ext>
                </a:extLst>
              </a:tr>
              <a:tr h="1054865">
                <a:tc>
                  <a:txBody>
                    <a:bodyPr/>
                    <a:lstStyle/>
                    <a:p>
                      <a:r>
                        <a:rPr lang="en-US" dirty="0"/>
                        <a:t>Thumbs up? Sentiment Classification using Machine Learning Techniques</a:t>
                      </a:r>
                    </a:p>
                  </a:txBody>
                  <a:tcPr/>
                </a:tc>
                <a:tc>
                  <a:txBody>
                    <a:bodyPr/>
                    <a:lstStyle/>
                    <a:p>
                      <a:r>
                        <a:rPr lang="en-US" dirty="0"/>
                        <a:t>Primary work</a:t>
                      </a:r>
                    </a:p>
                  </a:txBody>
                  <a:tcPr/>
                </a:tc>
                <a:tc>
                  <a:txBody>
                    <a:bodyPr/>
                    <a:lstStyle/>
                    <a:p>
                      <a:r>
                        <a:rPr lang="en-US" dirty="0"/>
                        <a:t>Classical ML models (Naive Bayes, SVM, </a:t>
                      </a:r>
                      <a:r>
                        <a:rPr lang="en-US" dirty="0" err="1"/>
                        <a:t>MaxEnt</a:t>
                      </a:r>
                      <a:r>
                        <a:rPr lang="en-US" dirty="0"/>
                        <a:t> ) on IMDB sentiment.</a:t>
                      </a:r>
                    </a:p>
                  </a:txBody>
                  <a:tcPr/>
                </a:tc>
                <a:tc>
                  <a:txBody>
                    <a:bodyPr/>
                    <a:lstStyle/>
                    <a:p>
                      <a:r>
                        <a:rPr lang="en-US" dirty="0"/>
                        <a:t>We replicate methodology; modern adaptation includes TF-IDF.</a:t>
                      </a:r>
                    </a:p>
                  </a:txBody>
                  <a:tcPr/>
                </a:tc>
                <a:extLst>
                  <a:ext uri="{0D108BD9-81ED-4DB2-BD59-A6C34878D82A}">
                    <a16:rowId xmlns:a16="http://schemas.microsoft.com/office/drawing/2014/main" val="1995216760"/>
                  </a:ext>
                </a:extLst>
              </a:tr>
              <a:tr h="1054865">
                <a:tc>
                  <a:txBody>
                    <a:bodyPr/>
                    <a:lstStyle/>
                    <a:p>
                      <a:r>
                        <a:rPr lang="en-US" sz="1800" b="0" i="0" u="none" strike="noStrike" kern="1200" baseline="0" dirty="0">
                          <a:solidFill>
                            <a:schemeClr val="dk1"/>
                          </a:solidFill>
                          <a:latin typeface="+mn-lt"/>
                          <a:ea typeface="+mn-ea"/>
                          <a:cs typeface="+mn-cs"/>
                        </a:rPr>
                        <a:t>A Comparative Study on Feature Selection in Text Categorization</a:t>
                      </a:r>
                      <a:endParaRPr lang="en-US" dirty="0"/>
                    </a:p>
                  </a:txBody>
                  <a:tcPr/>
                </a:tc>
                <a:tc>
                  <a:txBody>
                    <a:bodyPr/>
                    <a:lstStyle/>
                    <a:p>
                      <a:r>
                        <a:rPr lang="en-US" dirty="0"/>
                        <a:t>Feature selection &amp; text representation</a:t>
                      </a:r>
                    </a:p>
                  </a:txBody>
                  <a:tcPr/>
                </a:tc>
                <a:tc>
                  <a:txBody>
                    <a:bodyPr/>
                    <a:lstStyle/>
                    <a:p>
                      <a:r>
                        <a:rPr lang="en-US" dirty="0"/>
                        <a:t>Explains </a:t>
                      </a:r>
                      <a:r>
                        <a:rPr lang="en-US" dirty="0" err="1"/>
                        <a:t>BoW</a:t>
                      </a:r>
                      <a:r>
                        <a:rPr lang="en-US" dirty="0"/>
                        <a:t>, TF-IDF, and other feature selection techniques.</a:t>
                      </a:r>
                    </a:p>
                  </a:txBody>
                  <a:tcPr/>
                </a:tc>
                <a:tc>
                  <a:txBody>
                    <a:bodyPr/>
                    <a:lstStyle/>
                    <a:p>
                      <a:r>
                        <a:rPr lang="en-US" dirty="0"/>
                        <a:t>Guides our feature engineering during preprocessing.</a:t>
                      </a:r>
                    </a:p>
                  </a:txBody>
                  <a:tcPr/>
                </a:tc>
                <a:extLst>
                  <a:ext uri="{0D108BD9-81ED-4DB2-BD59-A6C34878D82A}">
                    <a16:rowId xmlns:a16="http://schemas.microsoft.com/office/drawing/2014/main" val="2996947561"/>
                  </a:ext>
                </a:extLst>
              </a:tr>
              <a:tr h="1054865">
                <a:tc>
                  <a:txBody>
                    <a:bodyPr/>
                    <a:lstStyle/>
                    <a:p>
                      <a:r>
                        <a:rPr lang="en-US" sz="1800" b="0" i="0" u="none" strike="noStrike" kern="1200" baseline="0" dirty="0">
                          <a:solidFill>
                            <a:schemeClr val="dk1"/>
                          </a:solidFill>
                          <a:latin typeface="+mn-lt"/>
                          <a:ea typeface="+mn-ea"/>
                          <a:cs typeface="+mn-cs"/>
                        </a:rPr>
                        <a:t>Bag of Tricks for Efficient Text Classification</a:t>
                      </a:r>
                      <a:endParaRPr lang="en-US" dirty="0"/>
                    </a:p>
                  </a:txBody>
                  <a:tcPr/>
                </a:tc>
                <a:tc>
                  <a:txBody>
                    <a:bodyPr/>
                    <a:lstStyle/>
                    <a:p>
                      <a:r>
                        <a:rPr lang="en-US" dirty="0"/>
                        <a:t>Efficient text classification</a:t>
                      </a:r>
                    </a:p>
                  </a:txBody>
                  <a:tcPr/>
                </a:tc>
                <a:tc>
                  <a:txBody>
                    <a:bodyPr/>
                    <a:lstStyle/>
                    <a:p>
                      <a:r>
                        <a:rPr lang="en-US" dirty="0"/>
                        <a:t>Shows that simple ML + good text features can achieve strong accuracy.</a:t>
                      </a:r>
                    </a:p>
                  </a:txBody>
                  <a:tcPr/>
                </a:tc>
                <a:tc>
                  <a:txBody>
                    <a:bodyPr/>
                    <a:lstStyle/>
                    <a:p>
                      <a:r>
                        <a:rPr lang="en-US" dirty="0"/>
                        <a:t>Reinforces use of simple and interpretable ML models.</a:t>
                      </a:r>
                    </a:p>
                  </a:txBody>
                  <a:tcPr/>
                </a:tc>
                <a:extLst>
                  <a:ext uri="{0D108BD9-81ED-4DB2-BD59-A6C34878D82A}">
                    <a16:rowId xmlns:a16="http://schemas.microsoft.com/office/drawing/2014/main" val="226231481"/>
                  </a:ext>
                </a:extLst>
              </a:tr>
            </a:tbl>
          </a:graphicData>
        </a:graphic>
      </p:graphicFrame>
    </p:spTree>
    <p:extLst>
      <p:ext uri="{BB962C8B-B14F-4D97-AF65-F5344CB8AC3E}">
        <p14:creationId xmlns:p14="http://schemas.microsoft.com/office/powerpoint/2010/main" val="2267380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35EF5-D30A-CB0C-C2F4-A4DDCDC8CF6A}"/>
              </a:ext>
            </a:extLst>
          </p:cNvPr>
          <p:cNvSpPr>
            <a:spLocks noGrp="1"/>
          </p:cNvSpPr>
          <p:nvPr>
            <p:ph type="title"/>
          </p:nvPr>
        </p:nvSpPr>
        <p:spPr>
          <a:xfrm>
            <a:off x="482600" y="725020"/>
            <a:ext cx="7713949" cy="1500387"/>
          </a:xfrm>
        </p:spPr>
        <p:txBody>
          <a:bodyPr/>
          <a:lstStyle/>
          <a:p>
            <a:r>
              <a:rPr lang="en-US" sz="4400" b="1" dirty="0">
                <a:latin typeface="Times New Roman" panose="02020603050405020304" pitchFamily="18" charset="0"/>
                <a:cs typeface="Times New Roman" panose="02020603050405020304" pitchFamily="18" charset="0"/>
              </a:rPr>
              <a:t>Alignment with Project Plan</a:t>
            </a:r>
          </a:p>
        </p:txBody>
      </p:sp>
      <p:sp>
        <p:nvSpPr>
          <p:cNvPr id="3" name="Content Placeholder 2">
            <a:extLst>
              <a:ext uri="{FF2B5EF4-FFF2-40B4-BE49-F238E27FC236}">
                <a16:creationId xmlns:a16="http://schemas.microsoft.com/office/drawing/2014/main" id="{238E1E1B-3A79-7101-B99E-877C47936C15}"/>
              </a:ext>
            </a:extLst>
          </p:cNvPr>
          <p:cNvSpPr>
            <a:spLocks noGrp="1"/>
          </p:cNvSpPr>
          <p:nvPr>
            <p:ph idx="1"/>
          </p:nvPr>
        </p:nvSpPr>
        <p:spPr>
          <a:xfrm>
            <a:off x="482600" y="2225408"/>
            <a:ext cx="10506991" cy="3654184"/>
          </a:xfrm>
        </p:spPr>
        <p:txBody>
          <a:bodyPr>
            <a:normAutofit/>
          </a:bodyPr>
          <a:lstStyle/>
          <a:p>
            <a:r>
              <a:rPr lang="en-US" dirty="0"/>
              <a:t>Week 3 in plan: Exploratory Data Analysis (EDA)</a:t>
            </a:r>
          </a:p>
          <a:p>
            <a:r>
              <a:rPr lang="en-US" dirty="0"/>
              <a:t>Progress 1 submission: Completed primary paper reading and summary slides</a:t>
            </a:r>
          </a:p>
          <a:p>
            <a:r>
              <a:rPr lang="en-US" dirty="0"/>
              <a:t>Next steps: Perform EDA and dataset exploration in the upcoming week as scheduled</a:t>
            </a:r>
          </a:p>
          <a:p>
            <a:r>
              <a:rPr lang="en-US" dirty="0"/>
              <a:t>Note:</a:t>
            </a:r>
          </a:p>
          <a:p>
            <a:r>
              <a:rPr lang="en-US" dirty="0"/>
              <a:t>While EDA is scheduled for Week 3, this submission demonstrates understanding of the methodology and related work, ensuring our project workflow is on track.</a:t>
            </a:r>
          </a:p>
        </p:txBody>
      </p:sp>
    </p:spTree>
    <p:extLst>
      <p:ext uri="{BB962C8B-B14F-4D97-AF65-F5344CB8AC3E}">
        <p14:creationId xmlns:p14="http://schemas.microsoft.com/office/powerpoint/2010/main" val="2756197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DAAE3-A776-F0DA-FE9B-CF3458F3D64F}"/>
              </a:ext>
            </a:extLst>
          </p:cNvPr>
          <p:cNvSpPr>
            <a:spLocks noGrp="1"/>
          </p:cNvSpPr>
          <p:nvPr>
            <p:ph type="title"/>
          </p:nvPr>
        </p:nvSpPr>
        <p:spPr>
          <a:xfrm>
            <a:off x="482600" y="683046"/>
            <a:ext cx="10634472" cy="1322024"/>
          </a:xfrm>
        </p:spPr>
        <p:txBody>
          <a:bodyPr/>
          <a:lstStyle/>
          <a:p>
            <a:r>
              <a:rPr lang="en-US" dirty="0"/>
              <a:t> Self-Assessment</a:t>
            </a:r>
            <a:br>
              <a:rPr lang="en-US" dirty="0"/>
            </a:br>
            <a:endParaRPr lang="en-US" dirty="0"/>
          </a:p>
        </p:txBody>
      </p:sp>
      <p:sp>
        <p:nvSpPr>
          <p:cNvPr id="3" name="Content Placeholder 2">
            <a:extLst>
              <a:ext uri="{FF2B5EF4-FFF2-40B4-BE49-F238E27FC236}">
                <a16:creationId xmlns:a16="http://schemas.microsoft.com/office/drawing/2014/main" id="{D5079A7B-283A-CD2F-6116-C64DB48794C6}"/>
              </a:ext>
            </a:extLst>
          </p:cNvPr>
          <p:cNvSpPr>
            <a:spLocks noGrp="1"/>
          </p:cNvSpPr>
          <p:nvPr>
            <p:ph idx="1"/>
          </p:nvPr>
        </p:nvSpPr>
        <p:spPr>
          <a:xfrm>
            <a:off x="482600" y="1575413"/>
            <a:ext cx="11096128" cy="4362680"/>
          </a:xfrm>
        </p:spPr>
        <p:txBody>
          <a:bodyPr>
            <a:noAutofit/>
          </a:bodyPr>
          <a:lstStyle/>
          <a:p>
            <a:pPr marL="514350" indent="-514350">
              <a:buFont typeface="+mj-lt"/>
              <a:buAutoNum type="arabicPeriod"/>
            </a:pPr>
            <a:r>
              <a:rPr lang="en-US" sz="3200" dirty="0"/>
              <a:t>Completed thorough reading of primary paper (Pang et al., 2002)</a:t>
            </a:r>
          </a:p>
          <a:p>
            <a:pPr marL="514350" indent="-514350">
              <a:buFont typeface="+mj-lt"/>
              <a:buAutoNum type="arabicPeriod"/>
            </a:pPr>
            <a:r>
              <a:rPr lang="en-US" sz="3200" dirty="0"/>
              <a:t> Summarized problem, dataset, methodology, and results</a:t>
            </a:r>
          </a:p>
          <a:p>
            <a:pPr marL="514350" indent="-514350">
              <a:buFont typeface="+mj-lt"/>
              <a:buAutoNum type="arabicPeriod"/>
            </a:pPr>
            <a:r>
              <a:rPr lang="en-US" sz="3200" dirty="0"/>
              <a:t> Reviewed and included related work (2 additional papers)</a:t>
            </a:r>
          </a:p>
          <a:p>
            <a:pPr marL="514350" indent="-514350">
              <a:buFont typeface="+mj-lt"/>
              <a:buAutoNum type="arabicPeriod"/>
            </a:pPr>
            <a:r>
              <a:rPr lang="en-US" sz="3200" dirty="0"/>
              <a:t>Prepared summary slides with speaker notes for understanding</a:t>
            </a:r>
          </a:p>
          <a:p>
            <a:pPr marL="514350" indent="-514350">
              <a:buFont typeface="+mj-lt"/>
              <a:buAutoNum type="arabicPeriod"/>
            </a:pPr>
            <a:r>
              <a:rPr lang="en-US" sz="3200" dirty="0"/>
              <a:t> Aligned work with original 10-week plan</a:t>
            </a:r>
          </a:p>
          <a:p>
            <a:pPr marL="514350" indent="-514350">
              <a:buFont typeface="+mj-lt"/>
              <a:buAutoNum type="arabicPeriod"/>
            </a:pPr>
            <a:endParaRPr lang="en-US" sz="3200" dirty="0"/>
          </a:p>
        </p:txBody>
      </p:sp>
    </p:spTree>
    <p:extLst>
      <p:ext uri="{BB962C8B-B14F-4D97-AF65-F5344CB8AC3E}">
        <p14:creationId xmlns:p14="http://schemas.microsoft.com/office/powerpoint/2010/main" val="1290488759"/>
      </p:ext>
    </p:extLst>
  </p:cSld>
  <p:clrMapOvr>
    <a:masterClrMapping/>
  </p:clrMapOvr>
</p:sld>
</file>

<file path=ppt/theme/theme1.xml><?xml version="1.0" encoding="utf-8"?>
<a:theme xmlns:a="http://schemas.openxmlformats.org/drawingml/2006/main" name="LevelVTI">
  <a:themeElements>
    <a:clrScheme name="Custom 88">
      <a:dk1>
        <a:sysClr val="windowText" lastClr="000000"/>
      </a:dk1>
      <a:lt1>
        <a:sysClr val="window" lastClr="FFFFFF"/>
      </a:lt1>
      <a:dk2>
        <a:srgbClr val="182230"/>
      </a:dk2>
      <a:lt2>
        <a:srgbClr val="F2F2F2"/>
      </a:lt2>
      <a:accent1>
        <a:srgbClr val="00BAC8"/>
      </a:accent1>
      <a:accent2>
        <a:srgbClr val="794DFF"/>
      </a:accent2>
      <a:accent3>
        <a:srgbClr val="00D17D"/>
      </a:accent3>
      <a:accent4>
        <a:srgbClr val="E69500"/>
      </a:accent4>
      <a:accent5>
        <a:srgbClr val="FE5D21"/>
      </a:accent5>
      <a:accent6>
        <a:srgbClr val="939393"/>
      </a:accent6>
      <a:hlink>
        <a:srgbClr val="3E8FF1"/>
      </a:hlink>
      <a:folHlink>
        <a:srgbClr val="939393"/>
      </a:folHlink>
    </a:clrScheme>
    <a:fontScheme name="Seaford">
      <a:majorFont>
        <a:latin typeface="Seaford"/>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velVTI" id="{64F43929-0387-4D33-907F-72B939BCAF99}" vid="{D804DF84-3298-4A39-BA0E-21F83D68BC2A}"/>
    </a:ext>
  </a:extLst>
</a:theme>
</file>

<file path=docProps/app.xml><?xml version="1.0" encoding="utf-8"?>
<Properties xmlns="http://schemas.openxmlformats.org/officeDocument/2006/extended-properties" xmlns:vt="http://schemas.openxmlformats.org/officeDocument/2006/docPropsVTypes">
  <TotalTime>87</TotalTime>
  <Words>561</Words>
  <Application>Microsoft Office PowerPoint</Application>
  <PresentationFormat>Widescreen</PresentationFormat>
  <Paragraphs>60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Seaford</vt:lpstr>
      <vt:lpstr>Times New Roman</vt:lpstr>
      <vt:lpstr>LevelVTI</vt:lpstr>
      <vt:lpstr>Title Sentiment Analysis on IMDB Movie Reviews using Machine Learning / Deep Learning</vt:lpstr>
      <vt:lpstr>Problem Statement</vt:lpstr>
      <vt:lpstr>Dataset Used</vt:lpstr>
      <vt:lpstr>Methodology (Primary Paper + Modern Adaptation)</vt:lpstr>
      <vt:lpstr>Results / Insights </vt:lpstr>
      <vt:lpstr>Related Work Comparison</vt:lpstr>
      <vt:lpstr>Alignment with Project Plan</vt:lpstr>
      <vt:lpstr> Self-Assessment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Lakshmi deepak Chidagam</dc:creator>
  <cp:lastModifiedBy>Lakshmi deepak Chidagam</cp:lastModifiedBy>
  <cp:revision>1</cp:revision>
  <dcterms:created xsi:type="dcterms:W3CDTF">2026-03-02T01:04:47Z</dcterms:created>
  <dcterms:modified xsi:type="dcterms:W3CDTF">2026-03-02T02:32:00Z</dcterms:modified>
</cp:coreProperties>
</file>